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37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2EAA5E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NEOENERGIA COELBA  •  ESTUDO DE CASO TÉCNICO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1874520"/>
            <a:ext cx="8961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Performance TMAE da Coelba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frente ao mercado nacional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61188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4D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4DD"/>
                </a:solidFill>
                <a:latin typeface="Calibri"/>
                <a:ea typeface="Calibri"/>
                <a:cs typeface="Calibri"/>
                <a:sym typeface="Calibri"/>
              </a:rPr>
              <a:t>Construção de uma base analítica em dbt e BigQuery e de um painel executivo em Power BI para acompanhar o Tempo Médio de Atendimento a Emergências da Coelba frente às demais distribuidoras do Brasil.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4709160"/>
            <a:ext cx="1024128" cy="384048"/>
          </a:xfrm>
          <a:prstGeom prst="roundRect">
            <a:avLst>
              <a:gd fmla="val 19048" name="adj"/>
            </a:avLst>
          </a:prstGeom>
          <a:solidFill>
            <a:srgbClr val="13374D"/>
          </a:solidFill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22960" y="4709160"/>
            <a:ext cx="1024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011680" y="4709160"/>
            <a:ext cx="544068" cy="384048"/>
          </a:xfrm>
          <a:prstGeom prst="roundRect">
            <a:avLst>
              <a:gd fmla="val 19048" name="adj"/>
            </a:avLst>
          </a:prstGeom>
          <a:solidFill>
            <a:srgbClr val="13374D"/>
          </a:solidFill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011680" y="4709160"/>
            <a:ext cx="544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720340" y="4709160"/>
            <a:ext cx="1024128" cy="384048"/>
          </a:xfrm>
          <a:prstGeom prst="roundRect">
            <a:avLst>
              <a:gd fmla="val 19048" name="adj"/>
            </a:avLst>
          </a:prstGeom>
          <a:solidFill>
            <a:srgbClr val="13374D"/>
          </a:solidFill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720340" y="4709160"/>
            <a:ext cx="1024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909060" y="4709160"/>
            <a:ext cx="832104" cy="384048"/>
          </a:xfrm>
          <a:prstGeom prst="roundRect">
            <a:avLst>
              <a:gd fmla="val 19048" name="adj"/>
            </a:avLst>
          </a:prstGeom>
          <a:solidFill>
            <a:srgbClr val="13374D"/>
          </a:solidFill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909060" y="4709160"/>
            <a:ext cx="8321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Gabriel Nunes Barbosa Nogueira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22960" y="61447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C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4C2"/>
                </a:solidFill>
                <a:latin typeface="Calibri"/>
                <a:ea typeface="Calibri"/>
                <a:cs typeface="Calibri"/>
                <a:sym typeface="Calibri"/>
              </a:rPr>
              <a:t>Processo Seletivo — Analista de Dados e Automação | Neoenergia Coelba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149840" y="5486400"/>
            <a:ext cx="914400" cy="9144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_white.png"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5288" y="5641848"/>
            <a:ext cx="603504" cy="60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CONTEXTO DE NEGÓCIO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O que é o TMAE e por que a regra importa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1691640"/>
            <a:ext cx="5989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TMAE — Tempo Médio de Atendimento a Emergências — mede quanto tempo, em média, uma distribuidora leva para atender ocorrências emergenciais na rede. É um indicador operacional acompanhado pelo setor elétrico brasileiro e serve de termômetro de qualidade do atendimento ao consumidor.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33756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A pergunta que a análise precisa responder sobre a Coelba: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3813048"/>
            <a:ext cx="82296" cy="82296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77240" y="3694176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A Coelba está melhor ou pior que a média nacional?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4288536"/>
            <a:ext cx="82296" cy="82296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77240" y="4169664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Como evolui sua posição no ranking de distribuidoras?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4764024"/>
            <a:ext cx="82296" cy="82296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77240" y="464515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A tendência recente é de melhora, piora ou estabilidade?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903720" y="1691640"/>
            <a:ext cx="4754880" cy="4160520"/>
          </a:xfrm>
          <a:prstGeom prst="roundRect">
            <a:avLst>
              <a:gd fmla="val 2198" name="adj"/>
            </a:avLst>
          </a:prstGeom>
          <a:solidFill>
            <a:srgbClr val="0E2233"/>
          </a:solidFill>
          <a:ln>
            <a:noFill/>
          </a:ln>
          <a:effectLst>
            <a:outerShdw blurRad="127000" rotWithShape="0" algn="bl" dir="54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269480" y="19659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REGRA CENTRAL DO NEGÓCIO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443216" y="2596896"/>
            <a:ext cx="566928" cy="566928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rrowdown_white.png"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5263" y="2698943"/>
            <a:ext cx="362834" cy="36283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8092440" y="26060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Menor TMAE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092440" y="288950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D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4DD"/>
                </a:solidFill>
                <a:latin typeface="Calibri"/>
                <a:ea typeface="Calibri"/>
                <a:cs typeface="Calibri"/>
                <a:sym typeface="Calibri"/>
              </a:rPr>
              <a:t>= melhor desempenho operacional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443216" y="3328416"/>
            <a:ext cx="566928" cy="566928"/>
          </a:xfrm>
          <a:prstGeom prst="ellipse">
            <a:avLst/>
          </a:prstGeom>
          <a:solidFill>
            <a:srgbClr val="3A2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rrowup_orange.png" id="55" name="Google Shape;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263" y="3430463"/>
            <a:ext cx="362834" cy="36283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8092440" y="33375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Maior TMAE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092440" y="362102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D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4DD"/>
                </a:solidFill>
                <a:latin typeface="Calibri"/>
                <a:ea typeface="Calibri"/>
                <a:cs typeface="Calibri"/>
                <a:sym typeface="Calibri"/>
              </a:rPr>
              <a:t>= pior desempenho operacional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4"/>
          <p:cNvCxnSpPr/>
          <p:nvPr/>
        </p:nvCxnSpPr>
        <p:spPr>
          <a:xfrm>
            <a:off x="7269480" y="422452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4"/>
          <p:cNvSpPr/>
          <p:nvPr/>
        </p:nvSpPr>
        <p:spPr>
          <a:xfrm>
            <a:off x="7269480" y="437083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Implicações aplicadas na modelagem: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269480" y="47365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•  Ranking ordenado de forma crescente de TMAE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269480" y="506577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•  Variação negativa = melhora • positiva = piora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269480" y="5394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•  Score de performance invertido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2/10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FONTE DE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Origem, estrutura e tratamento do dado bruto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Dado público regulatório monitorado pela ANEEL, recebido em formato long e processado integralmente antes de qualquer modelagem analítica.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2194560"/>
            <a:ext cx="352044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blue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24597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1325880" y="23957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ARQUIVO ORIGEM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22960" y="290779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indicador-atendimento-emergencial.csv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233672" y="2194560"/>
            <a:ext cx="352044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462272" y="2377440"/>
            <a:ext cx="457200" cy="457200"/>
          </a:xfrm>
          <a:prstGeom prst="ellipse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ayers_blue.png"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4568" y="24597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5010912" y="23957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VOLUME PROCESSADO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07992" y="290779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6.736.663 linhas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918704" y="2194560"/>
            <a:ext cx="352044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147304" y="2377440"/>
            <a:ext cx="457200" cy="457200"/>
          </a:xfrm>
          <a:prstGeom prst="ellipse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blue.png" id="85" name="Google Shape;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24597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8695944" y="23957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SEPARADOR / ENCODING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193024" y="290779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";"  /  ISO-8859-1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3822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INDICADORES IDENTIFICADOS NO 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4160520"/>
            <a:ext cx="7315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8640" y="41605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408176" y="4160520"/>
            <a:ext cx="7315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408176" y="41605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267712" y="4160520"/>
            <a:ext cx="7315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2267712" y="41605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127248" y="4160520"/>
            <a:ext cx="7315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127248" y="41605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TMM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986784" y="4160520"/>
            <a:ext cx="11887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986784" y="41605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NumOcorr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303520" y="4160520"/>
            <a:ext cx="7315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303520" y="41605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Nie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163056" y="4160520"/>
            <a:ext cx="82296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163056" y="416052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Pnie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14032" y="4160520"/>
            <a:ext cx="109728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114032" y="41605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NDIACRI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339328" y="4160520"/>
            <a:ext cx="1188720" cy="365760"/>
          </a:xfrm>
          <a:prstGeom prst="roundRect">
            <a:avLst>
              <a:gd fmla="val 17500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8339328" y="41605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VLCLACRI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4800600"/>
            <a:ext cx="10469880" cy="1417320"/>
          </a:xfrm>
          <a:prstGeom prst="roundRect">
            <a:avLst>
              <a:gd fmla="val 5806" name="adj"/>
            </a:avLst>
          </a:prstGeom>
          <a:solidFill>
            <a:srgbClr val="FFF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arch_white.png" id="109" name="Google Shape;10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5914" y="5299314"/>
            <a:ext cx="374172" cy="37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1600200" y="4992624"/>
            <a:ext cx="9052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DECISÃO TÉCNICA DOCUMENTADA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600200" y="5285232"/>
            <a:ext cx="9052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O dataset não traz a sigla TMAE literalmente. O projeto trata TMM como proxy operacional de TMAE — decisão validada pela consistência da soma TMP + TMD + TME.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3/10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ARQUITETURA &amp; MODELAGEM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Da fonte bruta a uma base pronta para consumo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1783080"/>
            <a:ext cx="1874520" cy="1005840"/>
          </a:xfrm>
          <a:prstGeom prst="roundRect">
            <a:avLst>
              <a:gd fmla="val 8182" name="adj"/>
            </a:avLst>
          </a:prstGeom>
          <a:solidFill>
            <a:srgbClr val="EEF2F6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275588" y="1956816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blue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7094" y="2028322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548640" y="24414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441448" y="201168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624328" y="1783080"/>
            <a:ext cx="1874520" cy="1005840"/>
          </a:xfrm>
          <a:prstGeom prst="roundRect">
            <a:avLst>
              <a:gd fmla="val 8182" name="adj"/>
            </a:avLst>
          </a:prstGeom>
          <a:solidFill>
            <a:srgbClr val="EEF2F6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351276" y="1956816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ayers_blue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2782" y="2028322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2624328" y="24414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17136" y="201168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700016" y="1783080"/>
            <a:ext cx="1874520" cy="1005840"/>
          </a:xfrm>
          <a:prstGeom prst="roundRect">
            <a:avLst>
              <a:gd fmla="val 8182" name="adj"/>
            </a:avLst>
          </a:prstGeom>
          <a:solidFill>
            <a:srgbClr val="EEF2F6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426964" y="1956816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blue.png" id="133" name="Google Shape;1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8470" y="2028322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4700016" y="24414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592824" y="201168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775704" y="1783080"/>
            <a:ext cx="1874520" cy="1005840"/>
          </a:xfrm>
          <a:prstGeom prst="roundRect">
            <a:avLst>
              <a:gd fmla="val 8182" name="adj"/>
            </a:avLst>
          </a:prstGeom>
          <a:solidFill>
            <a:srgbClr val="EEF2F6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502652" y="1956816"/>
            <a:ext cx="420624" cy="420624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rchart_white.png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4158" y="2028322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6775704" y="24414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Marts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668512" y="201168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851392" y="1783080"/>
            <a:ext cx="1874520" cy="1005840"/>
          </a:xfrm>
          <a:prstGeom prst="roundRect">
            <a:avLst>
              <a:gd fmla="val 8182" name="adj"/>
            </a:avLst>
          </a:prstGeom>
          <a:solidFill>
            <a:srgbClr val="2EAA5E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578340" y="1956816"/>
            <a:ext cx="420624" cy="420624"/>
          </a:xfrm>
          <a:prstGeom prst="ellipse">
            <a:avLst/>
          </a:prstGeom>
          <a:solidFill>
            <a:srgbClr val="2C8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line_green.png"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9846" y="2028322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8851392" y="24414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CAMADAS DO PROJETO DBT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3401568"/>
            <a:ext cx="1993392" cy="502920"/>
          </a:xfrm>
          <a:prstGeom prst="roundRect">
            <a:avLst>
              <a:gd fmla="val 1272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48640" y="3401568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633472" y="3401568"/>
            <a:ext cx="1993392" cy="502920"/>
          </a:xfrm>
          <a:prstGeom prst="roundRect">
            <a:avLst>
              <a:gd fmla="val 1272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2633472" y="3401568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718304" y="3401568"/>
            <a:ext cx="1993392" cy="502920"/>
          </a:xfrm>
          <a:prstGeom prst="roundRect">
            <a:avLst>
              <a:gd fmla="val 1272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718304" y="3401568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dimensions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803136" y="3401568"/>
            <a:ext cx="1993392" cy="502920"/>
          </a:xfrm>
          <a:prstGeom prst="roundRect">
            <a:avLst>
              <a:gd fmla="val 1272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803136" y="3401568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facts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887968" y="3401568"/>
            <a:ext cx="1993392" cy="502920"/>
          </a:xfrm>
          <a:prstGeom prst="roundRect">
            <a:avLst>
              <a:gd fmla="val 12727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887968" y="3401568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416052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mart_performance_tmae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é a tabela principal que alimenta o dashboard, construída sobre dimensões e fatos testados e documentados.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675120" y="4160520"/>
            <a:ext cx="4343400" cy="1965960"/>
          </a:xfrm>
          <a:prstGeom prst="roundRect">
            <a:avLst>
              <a:gd fmla="val 4651" name="adj"/>
            </a:avLst>
          </a:prstGeom>
          <a:solidFill>
            <a:srgbClr val="0E1F2E"/>
          </a:solidFill>
          <a:ln>
            <a:noFill/>
          </a:ln>
          <a:effectLst>
            <a:outerShdw blurRad="101600" rotWithShape="0" algn="bl" dir="54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995160" y="43159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EXEMPLOS DE OBJETOS DO PROJETO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995160" y="46268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▸ fact_tmae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995160" y="487832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▸ dim_tempo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995160" y="5129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▸ dim_distribuidora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995160" y="53812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▸ mart_painel_executivo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995160" y="56327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▸ mart_ranking_distribuidoras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995160" y="58841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▸ mart_evolucao_tmae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4/10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LÓGICA ANALÍTICA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Regra de negócio traduzida em métrica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48640" y="1691640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77240" y="1837944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TMAE médio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77240" y="2221992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por distribuidora e média nacional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169664" y="1691640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398264" y="1837944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Ranking nacional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398264" y="2221992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ordenado de forma crescente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790688" y="1691640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019288" y="1837944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019288" y="2221992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Coelba vs. Brasil, mês a mês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48640" y="2935224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77240" y="3081528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Variação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77240" y="3465576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mensal e anual do indicador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169664" y="2935224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398264" y="3081528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Score invertido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398264" y="3465576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menor TMAE gera maior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790688" y="2935224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019288" y="3081528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Percentil e quartil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019288" y="3465576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distância ao benchmark e ao top 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4160520"/>
            <a:ext cx="10469880" cy="1234440"/>
          </a:xfrm>
          <a:prstGeom prst="roundRect">
            <a:avLst>
              <a:gd fmla="val 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950976" y="4489704"/>
            <a:ext cx="566928" cy="566928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lance_white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354" y="4586082"/>
            <a:ext cx="374172" cy="37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1783080" y="437083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PREMISSA QUE GOVERNA TODA A MODELAGEM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783080" y="4663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Menor TMAE = melhor desempenho   •   Variação negativa = melhora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5/10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PAINEL EXECUTIVO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Leitura rápida do posicionamento da Coelba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48640" y="1691640"/>
            <a:ext cx="3456432" cy="1417320"/>
          </a:xfrm>
          <a:prstGeom prst="roundRect">
            <a:avLst>
              <a:gd fmla="val 5806" name="adj"/>
            </a:avLst>
          </a:prstGeom>
          <a:solidFill>
            <a:srgbClr val="FFF4EC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77240" y="182880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TMAE MÉDIO COELBA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77240" y="2121408"/>
            <a:ext cx="29992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47920"/>
                </a:solidFill>
                <a:latin typeface="Cambria"/>
                <a:ea typeface="Cambria"/>
                <a:cs typeface="Cambria"/>
                <a:sym typeface="Cambria"/>
              </a:rPr>
              <a:t>473,78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77240" y="272491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169664" y="1691640"/>
            <a:ext cx="3456432" cy="1417320"/>
          </a:xfrm>
          <a:prstGeom prst="roundRect">
            <a:avLst>
              <a:gd fmla="val 5806" name="adj"/>
            </a:avLst>
          </a:prstGeom>
          <a:solidFill>
            <a:srgbClr val="F4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398264" y="182880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TMAE MÉDIO NACIONAL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398264" y="2121408"/>
            <a:ext cx="29992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221,11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398264" y="272491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790688" y="1691640"/>
            <a:ext cx="3456432" cy="1417320"/>
          </a:xfrm>
          <a:prstGeom prst="roundRect">
            <a:avLst>
              <a:gd fmla="val 5806" name="adj"/>
            </a:avLst>
          </a:prstGeom>
          <a:solidFill>
            <a:srgbClr val="F4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8019288" y="182880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RANKING MÉDIO COELBA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019288" y="2121408"/>
            <a:ext cx="29992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85,18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019288" y="272491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entre as distribuidoras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333756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 Painel Executivo responde, em um único olhar, como a Coelba se posiciona frente ao Brasil: TMAE médio, ranking nacional e gap percentual contra a média do setor — sem exigir navegação por outras páginas.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KPIS QUE COMPÕEM A ABA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4773168"/>
            <a:ext cx="1795882" cy="347472"/>
          </a:xfrm>
          <a:prstGeom prst="roundRect">
            <a:avLst>
              <a:gd fmla="val 18421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48640" y="4773168"/>
            <a:ext cx="179588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TMAE Médio Coelba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454250" y="4773168"/>
            <a:ext cx="1543507" cy="347472"/>
          </a:xfrm>
          <a:prstGeom prst="roundRect">
            <a:avLst>
              <a:gd fmla="val 18421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454250" y="4773168"/>
            <a:ext cx="1543507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Ranking Coelba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107485" y="4773168"/>
            <a:ext cx="1711757" cy="347472"/>
          </a:xfrm>
          <a:prstGeom prst="roundRect">
            <a:avLst>
              <a:gd fmla="val 18421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107485" y="4773168"/>
            <a:ext cx="1711757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Gap vs. Nacional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48640" y="5184648"/>
            <a:ext cx="1459382" cy="347472"/>
          </a:xfrm>
          <a:prstGeom prst="roundRect">
            <a:avLst>
              <a:gd fmla="val 18421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48640" y="5184648"/>
            <a:ext cx="145938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Classificação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117750" y="5184648"/>
            <a:ext cx="1711757" cy="347472"/>
          </a:xfrm>
          <a:prstGeom prst="roundRect">
            <a:avLst>
              <a:gd fmla="val 18421" name="adj"/>
            </a:avLst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2117750" y="5184648"/>
            <a:ext cx="1711757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Tendência mensal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995160" y="3337560"/>
            <a:ext cx="4023360" cy="2788920"/>
          </a:xfrm>
          <a:prstGeom prst="roundRect">
            <a:avLst>
              <a:gd fmla="val 3279" name="adj"/>
            </a:avLst>
          </a:prstGeom>
          <a:solidFill>
            <a:srgbClr val="0E1F2E"/>
          </a:solidFill>
          <a:ln>
            <a:noFill/>
          </a:ln>
          <a:effectLst>
            <a:outerShdw blurRad="101600" rotWithShape="0" algn="bl" dir="54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315200" y="3520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MEDIDAS DAX — PAINEL EXECUTIVO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315200" y="3858768"/>
            <a:ext cx="34290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TMAE Medio Coelba =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CALCULATE(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  [TMAE Medio],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  ...flag_neoenergia_coelba = TRUE()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Ranking Coelba =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CALCULATE(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  MIN([ranking_nacional]),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  ...flag_neoenergia_coelba = TRUE()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CE8E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6/10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Posição relativa da Coelba no mercado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48640" y="160020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página Ranking compara todas as distribuidoras pelo TMAE, ordenadas de forma crescente — quanto menor o indicador, melhor a posição — e situa a Coelba dentro dessa distribuição nacional.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2331720"/>
            <a:ext cx="644652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68680" y="254203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POSIÇÃO ILUSTRATIVA NO RANKING NACIONAL (TMAE CRESCENTE)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68680" y="29077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Top 10 nacional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68680" y="3200400"/>
            <a:ext cx="822960" cy="329184"/>
          </a:xfrm>
          <a:prstGeom prst="roundRect">
            <a:avLst>
              <a:gd fmla="val 16667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868680" y="3657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Faixa intermediária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68680" y="3950208"/>
            <a:ext cx="2377440" cy="329184"/>
          </a:xfrm>
          <a:prstGeom prst="roundRect">
            <a:avLst>
              <a:gd fmla="val 16667" name="adj"/>
            </a:avLst>
          </a:prstGeom>
          <a:solidFill>
            <a:srgbClr val="B9C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868680" y="44074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Coelba — posição 87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68680" y="4700016"/>
            <a:ext cx="4389120" cy="329184"/>
          </a:xfrm>
          <a:prstGeom prst="roundRect">
            <a:avLst>
              <a:gd fmla="val 16667" name="adj"/>
            </a:avLst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68680" y="5212080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Coelba aparece distante do grupo de melhor desempenho, refletindo o gap consistente frente à média nacional identificado na base histórica.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269480" y="2331720"/>
            <a:ext cx="3749040" cy="3200400"/>
          </a:xfrm>
          <a:prstGeom prst="roundRect">
            <a:avLst>
              <a:gd fmla="val 2857" name="adj"/>
            </a:avLst>
          </a:prstGeom>
          <a:solidFill>
            <a:srgbClr val="0E223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589520" y="25420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ÚLTIMO PERÍODO DISPONÍVEL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589520" y="278892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87º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589520" y="34564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7D4DD"/>
                </a:solidFill>
                <a:latin typeface="Calibri"/>
                <a:ea typeface="Calibri"/>
                <a:cs typeface="Calibri"/>
                <a:sym typeface="Calibri"/>
              </a:rPr>
              <a:t>posição no ranking 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9"/>
          <p:cNvCxnSpPr/>
          <p:nvPr/>
        </p:nvCxnSpPr>
        <p:spPr>
          <a:xfrm>
            <a:off x="7589520" y="3886200"/>
            <a:ext cx="3108960" cy="0"/>
          </a:xfrm>
          <a:prstGeom prst="straightConnector1">
            <a:avLst/>
          </a:prstGeom>
          <a:noFill/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9"/>
          <p:cNvSpPr/>
          <p:nvPr/>
        </p:nvSpPr>
        <p:spPr>
          <a:xfrm>
            <a:off x="7589520" y="40233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CLASSIFICAÇÃO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589520" y="4261104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589520" y="47091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TMAE COELBA NO PERÍODO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589520" y="4946904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481,06  vs.  214,91 (BR)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7/10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EVOLUÇÃO &amp; COMPONENTES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Como o indicador se move e o que o compõe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48640" y="1691640"/>
            <a:ext cx="5349240" cy="3703320"/>
          </a:xfrm>
          <a:prstGeom prst="roundRect">
            <a:avLst>
              <a:gd fmla="val 2469" name="adj"/>
            </a:avLst>
          </a:prstGeom>
          <a:solidFill>
            <a:srgbClr val="F4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891540" y="1943100"/>
            <a:ext cx="502920" cy="50292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line_white.png"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036" y="202859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1508760" y="19659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Evolução temporal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68680" y="26060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Série Coelba vs. Brasil com média móvel, permitindo distinguir oscilação pontual de tendência estrutural.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868680" y="3337560"/>
            <a:ext cx="47548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1051560" y="3429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Tendência mensal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657600" y="34290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Melhora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868680" y="4014216"/>
            <a:ext cx="47548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1051560" y="41056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Tendência 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657600" y="410565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Melhora 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868680" y="480060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Recorte validado do projeto: a melhora recente é real, mas ainda insuficiente para aproximar a Coelba da média nacional.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080760" y="1691640"/>
            <a:ext cx="5532120" cy="3703320"/>
          </a:xfrm>
          <a:prstGeom prst="roundRect">
            <a:avLst>
              <a:gd fmla="val 2469" name="adj"/>
            </a:avLst>
          </a:prstGeom>
          <a:solidFill>
            <a:srgbClr val="F4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423660" y="1943100"/>
            <a:ext cx="502920" cy="50292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white.png" id="284" name="Google Shape;28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9156" y="202859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7040880" y="196596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Componentes do indicador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400800" y="26060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TMM é decomposto em três frentes operacionais, permitindo identificar qual etapa do atendimento mais pressiona o resultado final.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400800" y="3246120"/>
            <a:ext cx="493776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6565392" y="3355848"/>
            <a:ext cx="658368" cy="347472"/>
          </a:xfrm>
          <a:prstGeom prst="roundRect">
            <a:avLst>
              <a:gd fmla="val 15789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6565392" y="3355848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360920" y="3337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Tempo de Preparação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400800" y="3922776"/>
            <a:ext cx="493776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6565392" y="4032504"/>
            <a:ext cx="658368" cy="347472"/>
          </a:xfrm>
          <a:prstGeom prst="roundRect">
            <a:avLst>
              <a:gd fmla="val 15789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6565392" y="403250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360920" y="401421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Tempo de Deslocamento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400800" y="4599432"/>
            <a:ext cx="493776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565392" y="4709160"/>
            <a:ext cx="658368" cy="347472"/>
          </a:xfrm>
          <a:prstGeom prst="roundRect">
            <a:avLst>
              <a:gd fmla="val 15789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6565392" y="470916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360920" y="46908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Tempo de Execução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400800" y="528523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TMM (proxy de TMAE) = TMP + TMD + TME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8/10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CAMADA AVANÇADA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230"/>
                </a:solidFill>
                <a:latin typeface="Cambria"/>
                <a:ea typeface="Cambria"/>
                <a:cs typeface="Cambria"/>
                <a:sym typeface="Cambria"/>
              </a:rPr>
              <a:t>Score, outliers e tendência — interpretabilidade antes de complexidade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48640" y="1691640"/>
            <a:ext cx="3456432" cy="2880360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850392" y="1929384"/>
            <a:ext cx="530352" cy="530352"/>
          </a:xfrm>
          <a:prstGeom prst="ellipse">
            <a:avLst/>
          </a:prstGeom>
          <a:solidFill>
            <a:srgbClr val="FFF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ophy_orange.png" id="311" name="Google Shape;3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462" y="2035454"/>
            <a:ext cx="318211" cy="31821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822960" y="2542032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Score de performance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22960" y="2907792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Score invertido: quanto menor o TMAE, maior a pontuação da distribuidora.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822960" y="3822192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20.053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822960" y="422452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linhas (mart_score_performance)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169664" y="1691640"/>
            <a:ext cx="3456432" cy="2880360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4471416" y="1929384"/>
            <a:ext cx="530352" cy="530352"/>
          </a:xfrm>
          <a:prstGeom prst="ellipse">
            <a:avLst/>
          </a:prstGeom>
          <a:solidFill>
            <a:srgbClr val="FFF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ing_orange.png" id="318" name="Google Shape;3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486" y="2035454"/>
            <a:ext cx="318211" cy="31821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4443984" y="2542032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443984" y="2907792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Identificação de competências com comportamento atípico no indicador.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443984" y="3822192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865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443984" y="422452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linhas (mart_outliers_tmae)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7790688" y="1691640"/>
            <a:ext cx="3456432" cy="2880360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8092440" y="1929384"/>
            <a:ext cx="530352" cy="530352"/>
          </a:xfrm>
          <a:prstGeom prst="ellipse">
            <a:avLst/>
          </a:prstGeom>
          <a:solidFill>
            <a:srgbClr val="FFF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blue.png" id="325" name="Google Shape;32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8510" y="2035454"/>
            <a:ext cx="318211" cy="31821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8065008" y="2542032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0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30"/>
                </a:solidFill>
                <a:latin typeface="Calibri"/>
                <a:ea typeface="Calibri"/>
                <a:cs typeface="Calibri"/>
                <a:sym typeface="Calibri"/>
              </a:rPr>
              <a:t>Tendência prevista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065008" y="2907792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Leitura de direção (melhora/piora) com base no histórico recente.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8065008" y="3822192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20.053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8065008" y="422452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linhas (mart_tendencia_tmae)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48640" y="4754880"/>
            <a:ext cx="10469880" cy="868680"/>
          </a:xfrm>
          <a:prstGeom prst="roundRect">
            <a:avLst>
              <a:gd fmla="val 9474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868680" y="4965192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camada avançada foi pensada para ampliar interpretabilidade e priorização executiva — não para parecer complexa artificialmente.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C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3ACB8"/>
                </a:solidFill>
                <a:latin typeface="Calibri"/>
                <a:ea typeface="Calibri"/>
                <a:cs typeface="Calibri"/>
                <a:sym typeface="Calibri"/>
              </a:rPr>
              <a:t>9/10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/>
          <p:nvPr/>
        </p:nvSpPr>
        <p:spPr>
          <a:xfrm>
            <a:off x="9144000" y="-2011680"/>
            <a:ext cx="5486400" cy="5486400"/>
          </a:xfrm>
          <a:prstGeom prst="ellipse">
            <a:avLst/>
          </a:prstGeom>
          <a:solidFill>
            <a:srgbClr val="1337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CONCLUSÕES &amp; RECOMENDAÇÕES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Onde a Coelba está e o que fazer a seguir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PRINCIPAIS ACHADOS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48640" y="2039112"/>
            <a:ext cx="91440" cy="9144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804672" y="192024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A Coelba está abaixo da média nacional no histórico consolidado e no último período disponível.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48640" y="2816352"/>
            <a:ext cx="91440" cy="9144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804672" y="269748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O ranking médio (85,18) e a posição mais recente (87ª) indicam um ponto de atenção competitivo.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804672" y="347472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8E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8EF"/>
                </a:solidFill>
                <a:latin typeface="Calibri"/>
                <a:ea typeface="Calibri"/>
                <a:cs typeface="Calibri"/>
                <a:sym typeface="Calibri"/>
              </a:rPr>
              <a:t>Os períodos mais recentes mostram melhora mensal e anual — sinal positivo, ainda insuficiente para reverter a distância frente ao mercado.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48640" y="4434840"/>
            <a:ext cx="5669280" cy="1005840"/>
          </a:xfrm>
          <a:prstGeom prst="roundRect">
            <a:avLst>
              <a:gd fmla="val 8182" name="adj"/>
            </a:avLst>
          </a:prstGeom>
          <a:solidFill>
            <a:srgbClr val="2A1B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804672" y="45720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LIMITAÇÃO TEMPORAL DA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04672" y="4828032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0D9C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D9C8"/>
                </a:solidFill>
                <a:latin typeface="Calibri"/>
                <a:ea typeface="Calibri"/>
                <a:cs typeface="Calibri"/>
                <a:sym typeface="Calibri"/>
              </a:rPr>
              <a:t>A base geral vai até 2026-05; a Coelba, até 2026-04 — limitação de cobertura do dado, não erro de modelagem.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537960" y="1600200"/>
            <a:ext cx="5074920" cy="3840480"/>
          </a:xfrm>
          <a:prstGeom prst="roundRect">
            <a:avLst>
              <a:gd fmla="val 2381" name="adj"/>
            </a:avLst>
          </a:prstGeom>
          <a:solidFill>
            <a:srgbClr val="13374D"/>
          </a:solidFill>
          <a:ln>
            <a:noFill/>
          </a:ln>
          <a:effectLst>
            <a:outerShdw blurRad="127000" rotWithShape="0" algn="bl" dir="54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6894576" y="1865376"/>
            <a:ext cx="566928" cy="566928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white.png" id="354" name="Google Shape;3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0954" y="1961754"/>
            <a:ext cx="374172" cy="37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7635240" y="19933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RECOMENDAÇÃO EXECUTIVA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858000" y="260604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Monitorar a recorrência da melhora recente, comparar sistematicamente com benchmarks nacionais e investigar os componentes — TMP, TMD e TME — que mais pressionam o TMAE da Coelba.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2"/>
          <p:cNvCxnSpPr/>
          <p:nvPr/>
        </p:nvCxnSpPr>
        <p:spPr>
          <a:xfrm>
            <a:off x="6858000" y="4160520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2E58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2"/>
          <p:cNvSpPr/>
          <p:nvPr/>
        </p:nvSpPr>
        <p:spPr>
          <a:xfrm>
            <a:off x="6858000" y="4315968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7D4DD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7D4DD"/>
                </a:solidFill>
                <a:latin typeface="Calibri"/>
                <a:ea typeface="Calibri"/>
                <a:cs typeface="Calibri"/>
                <a:sym typeface="Calibri"/>
              </a:rPr>
              <a:t>A entrega combina robustez técnica — dbt testado, modelagem em camadas — com aplicabilidade executiva para apoiar a leitura comparativa da Coelba frente ao setor.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4C2"/>
                </a:solidFill>
                <a:latin typeface="Calibri"/>
                <a:ea typeface="Calibri"/>
                <a:cs typeface="Calibri"/>
                <a:sym typeface="Calibri"/>
              </a:rPr>
              <a:t>NeoView Analytics  |  TMAE — Neoenergia Coelba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4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4C2"/>
                </a:solidFill>
                <a:latin typeface="Calibri"/>
                <a:ea typeface="Calibri"/>
                <a:cs typeface="Calibri"/>
                <a:sym typeface="Calibri"/>
              </a:rPr>
              <a:t>10/10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