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34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955280" y="-914400"/>
            <a:ext cx="5486400" cy="8686800"/>
          </a:xfrm>
          <a:prstGeom prst="rect">
            <a:avLst/>
          </a:prstGeom>
          <a:solidFill>
            <a:srgbClr val="203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244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789920" y="3291840"/>
            <a:ext cx="3840480" cy="3840480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neoview_deck/assets/symbol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5486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298448" y="5669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NEOENERGIA COELBA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98448" y="822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D8B8"/>
                </a:solidFill>
                <a:latin typeface="Calibri"/>
                <a:ea typeface="Calibri"/>
                <a:cs typeface="Calibri"/>
                <a:sym typeface="Calibri"/>
              </a:rPr>
              <a:t>NeoView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4360" y="2331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PROVA TÉCNICA  ·  VAGA DE ANALISTA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" y="2697480"/>
            <a:ext cx="8961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Análise de Performance do TMAE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94360" y="3611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9D8D6"/>
                </a:solidFill>
                <a:latin typeface="Calibri"/>
                <a:ea typeface="Calibri"/>
                <a:cs typeface="Calibri"/>
                <a:sym typeface="Calibri"/>
              </a:rPr>
              <a:t>Neoenergia Coelba frente ao cenário nacional de distribuição de energia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9436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D8B8"/>
                </a:solidFill>
                <a:latin typeface="Calibri"/>
                <a:ea typeface="Calibri"/>
                <a:cs typeface="Calibri"/>
                <a:sym typeface="Calibri"/>
              </a:rPr>
              <a:t>Desafio Técnico · Analytics Engineering, dbt, BigQuery e Power BI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94360" y="4892040"/>
            <a:ext cx="1773936" cy="384048"/>
          </a:xfrm>
          <a:prstGeom prst="roundRect">
            <a:avLst>
              <a:gd fmla="val 19048" name="adj"/>
            </a:avLst>
          </a:prstGeom>
          <a:solidFill>
            <a:srgbClr val="24383C"/>
          </a:solidFill>
          <a:ln cap="flat" cmpd="sng" w="9525">
            <a:solidFill>
              <a:srgbClr val="335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94360" y="4892040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532888" y="4892040"/>
            <a:ext cx="950976" cy="384048"/>
          </a:xfrm>
          <a:prstGeom prst="roundRect">
            <a:avLst>
              <a:gd fmla="val 19048" name="adj"/>
            </a:avLst>
          </a:prstGeom>
          <a:solidFill>
            <a:srgbClr val="24383C"/>
          </a:solidFill>
          <a:ln cap="flat" cmpd="sng" w="9525">
            <a:solidFill>
              <a:srgbClr val="335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532888" y="4892040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648456" y="4892040"/>
            <a:ext cx="1444752" cy="384048"/>
          </a:xfrm>
          <a:prstGeom prst="roundRect">
            <a:avLst>
              <a:gd fmla="val 19048" name="adj"/>
            </a:avLst>
          </a:prstGeom>
          <a:solidFill>
            <a:srgbClr val="24383C"/>
          </a:solidFill>
          <a:ln cap="flat" cmpd="sng" w="9525">
            <a:solidFill>
              <a:srgbClr val="335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648456" y="4892040"/>
            <a:ext cx="1444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257800" y="4892040"/>
            <a:ext cx="1773936" cy="384048"/>
          </a:xfrm>
          <a:prstGeom prst="roundRect">
            <a:avLst>
              <a:gd fmla="val 19048" name="adj"/>
            </a:avLst>
          </a:prstGeom>
          <a:solidFill>
            <a:srgbClr val="24383C"/>
          </a:solidFill>
          <a:ln cap="flat" cmpd="sng" w="9525">
            <a:solidFill>
              <a:srgbClr val="335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257800" y="4892040"/>
            <a:ext cx="177393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196328" y="4892040"/>
            <a:ext cx="1938528" cy="384048"/>
          </a:xfrm>
          <a:prstGeom prst="roundRect">
            <a:avLst>
              <a:gd fmla="val 19048" name="adj"/>
            </a:avLst>
          </a:prstGeom>
          <a:solidFill>
            <a:srgbClr val="24383C"/>
          </a:solidFill>
          <a:ln cap="flat" cmpd="sng" w="9525">
            <a:solidFill>
              <a:srgbClr val="3352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196328" y="4892040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94360" y="58064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Gabriel Nunes Barbosa Nogueira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94360" y="614476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Data e Automação · Analytics  |  19 de junho de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O indicador TMAE e o objetivo de negócio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1508760"/>
            <a:ext cx="5029200" cy="1965960"/>
          </a:xfrm>
          <a:prstGeom prst="roundRect">
            <a:avLst>
              <a:gd fmla="val 3721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405" y="18962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508760" y="17556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41248" y="228600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Analisar a performance da Neoenergia Coelba frente às demais distribuidoras do país, transformando dados públicos em uma base analítica confiável e executiva.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3657600"/>
            <a:ext cx="5029200" cy="1783080"/>
          </a:xfrm>
          <a:prstGeom prst="roundRect">
            <a:avLst>
              <a:gd fmla="val 4103" name="adj"/>
            </a:avLst>
          </a:prstGeom>
          <a:solidFill>
            <a:srgbClr val="F0F9F3"/>
          </a:solidFill>
          <a:ln cap="flat" cmpd="sng" w="12700">
            <a:solidFill>
              <a:srgbClr val="CFE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41248" y="38587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Regra central de negócio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41248" y="4187952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EAA5E"/>
                </a:solidFill>
                <a:latin typeface="Cambria"/>
                <a:ea typeface="Cambria"/>
                <a:cs typeface="Cambria"/>
                <a:sym typeface="Cambria"/>
              </a:rPr>
              <a:t>Menor TMAE</a:t>
            </a:r>
            <a:r>
              <a:rPr b="0" i="0" lang="en-US" sz="16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 = melhor desempenho operacional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41248" y="4681728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TMAE — Tempo Médio de Atendimento a Emergências, indicador de referência para qualidade do atendimento emergencial das distribuidoras.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897880" y="148132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Leitura executiva esperada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897880" y="19202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0" y="20231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5897880" y="192024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897880" y="192024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0" y="202311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6537960" y="18928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Evolução da Coelba no tempo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537960" y="216712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Acompanhar a trajetória mensal do indicador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89788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0" y="29832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5897880" y="288036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897880" y="28803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0" y="298323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6537960" y="28529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Comparação com o Brasil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537960" y="312724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Posicionar a Coelba frente à média 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897880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0" y="39433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897880" y="384048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897880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0" y="39433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6537960" y="38130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Ranking entre distribuidoras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537960" y="40873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Benchmark direto com pares do setor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897880" y="48006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0750" y="49034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5897880" y="480060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897880" y="48006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0750" y="49034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6537960" y="47731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Componentes de impacto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537960" y="50474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Identificar o que mais influencia o resultado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FONTE DE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Origem, estrutura e premissas técnicas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1508760"/>
            <a:ext cx="3657600" cy="4160520"/>
          </a:xfrm>
          <a:prstGeom prst="roundRect">
            <a:avLst>
              <a:gd fmla="val 2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22960" y="1755648"/>
            <a:ext cx="502920" cy="50292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17" y="186880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822960" y="2359152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Base Pública ANEEL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2960" y="2907792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Dados sobre atendimento emergencial, disponibilizados em arquivo CSV público.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2960" y="36118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Estrutura observada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2960" y="3913632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Dado em formato long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632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Indicadores separados por tipo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22960" y="466344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Premissa técnica adotada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960" y="495604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TMM tratado como proxy operacional do TMAE, com consistência validada pelo cálculo: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22960" y="5413248"/>
            <a:ext cx="3154680" cy="384048"/>
          </a:xfrm>
          <a:prstGeom prst="roundRect">
            <a:avLst>
              <a:gd fmla="val 14286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822960" y="541324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TMP + TMD + TME = TMM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0" y="1481328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Indicadores encontrados na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0" y="1920240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709160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TMP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709160" y="23774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 Médio de Preparação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068312" y="1920240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205472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TMD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205472" y="23774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 Médio de Deslocamento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564624" y="1920240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701784" y="20116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TME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701784" y="237744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 Médio de Execução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0" y="3044952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70916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TMM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09160" y="350215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Tempo Médio (proxy TMAE)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068312" y="3044952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205472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NumOcorr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205472" y="350215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Número de Ocorrências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564624" y="3044952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701784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Nie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701784" y="3502152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Nº de Interrupções de Emergência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0" y="4169664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709160" y="4261104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Pnie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709160" y="46268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Percentual de NIE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068312" y="4169664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205472" y="4261104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NDIACRI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205472" y="46268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Nº Dias Críticos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564624" y="4169664"/>
            <a:ext cx="2331720" cy="9601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9701784" y="4261104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A9"/>
                </a:solidFill>
                <a:latin typeface="Cambria"/>
                <a:ea typeface="Cambria"/>
                <a:cs typeface="Cambria"/>
                <a:sym typeface="Cambria"/>
              </a:rPr>
              <a:t>VLCLACRI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9701784" y="46268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Valor Crítico Limite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ARQUITETURA DA SOLUÇÃO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Visão end-to-end do pipeline analítico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1965960"/>
            <a:ext cx="1993392" cy="2286000"/>
          </a:xfrm>
          <a:prstGeom prst="roundRect">
            <a:avLst>
              <a:gd fmla="val 4128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261872" y="2221992"/>
            <a:ext cx="566928" cy="566928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431" y="23495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640080" y="29718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CSV ANEEL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58368" y="3355848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Origem pública dos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542032" y="278892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798064" y="1965960"/>
            <a:ext cx="1993392" cy="2286000"/>
          </a:xfrm>
          <a:prstGeom prst="roundRect">
            <a:avLst>
              <a:gd fmla="val 4128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511296" y="2221992"/>
            <a:ext cx="566928" cy="566928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855" y="23495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2889504" y="29718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907792" y="3355848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Leitura e inspeção do 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791456" y="278892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47488" y="1965960"/>
            <a:ext cx="1993392" cy="2286000"/>
          </a:xfrm>
          <a:prstGeom prst="roundRect">
            <a:avLst>
              <a:gd fmla="val 4128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760720" y="2221992"/>
            <a:ext cx="566928" cy="566928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8279" y="23495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5138928" y="29718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BigQuery (raw)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157216" y="3355848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Carga da camada bruta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040880" y="278892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296912" y="1965960"/>
            <a:ext cx="1993392" cy="2286000"/>
          </a:xfrm>
          <a:prstGeom prst="roundRect">
            <a:avLst>
              <a:gd fmla="val 4128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010144" y="2221992"/>
            <a:ext cx="566928" cy="566928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7703" y="23495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7388352" y="29718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dbt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406640" y="3355848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Staging → Int. → Dim/Facts → Marts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290304" y="278892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546336" y="1965960"/>
            <a:ext cx="1993392" cy="2286000"/>
          </a:xfrm>
          <a:prstGeom prst="roundRect">
            <a:avLst>
              <a:gd fmla="val 4128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0259568" y="2221992"/>
            <a:ext cx="566928" cy="566928"/>
          </a:xfrm>
          <a:prstGeom prst="ellipse">
            <a:avLst/>
          </a:prstGeom>
          <a:solidFill>
            <a:srgbClr val="6D2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7127" y="23495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9637776" y="297180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Power BI / Streamlit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9656064" y="3355848"/>
            <a:ext cx="1773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Consumo analítico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0F2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22960" y="4736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D8B8"/>
                </a:solidFill>
                <a:latin typeface="Calibri"/>
                <a:ea typeface="Calibri"/>
                <a:cs typeface="Calibri"/>
                <a:sym typeface="Calibri"/>
              </a:rPr>
              <a:t>Fluxo da solução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22960" y="501091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CSV ANEEL  →  Python  →  BigQuery (raw)  →  dbt  →  Marts  →  Power BI / Streamlit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8640" y="565099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Ingestão com Python, modelagem com dbt no BigQuery, e consumo via Power BI — com Streamlit como alternativa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MODELAGEM DIMENSIONAL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Organização analítica em camadas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Camadas dbt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48640" y="1810512"/>
            <a:ext cx="3017520" cy="566928"/>
          </a:xfrm>
          <a:prstGeom prst="roundRect">
            <a:avLst>
              <a:gd fmla="val 9677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13232" y="2002536"/>
            <a:ext cx="182880" cy="182880"/>
          </a:xfrm>
          <a:prstGeom prst="ellipse">
            <a:avLst/>
          </a:prstGeom>
          <a:solidFill>
            <a:srgbClr val="8C8C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024128" y="181051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2487168"/>
            <a:ext cx="3017520" cy="566928"/>
          </a:xfrm>
          <a:prstGeom prst="roundRect">
            <a:avLst>
              <a:gd fmla="val 9677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13232" y="2679192"/>
            <a:ext cx="182880" cy="18288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024128" y="248716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Intermediate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3163824"/>
            <a:ext cx="3017520" cy="566928"/>
          </a:xfrm>
          <a:prstGeom prst="roundRect">
            <a:avLst>
              <a:gd fmla="val 9677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13232" y="3355848"/>
            <a:ext cx="182880" cy="18288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1024128" y="316382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3840480"/>
            <a:ext cx="3017520" cy="566928"/>
          </a:xfrm>
          <a:prstGeom prst="roundRect">
            <a:avLst>
              <a:gd fmla="val 9677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13232" y="4032504"/>
            <a:ext cx="182880" cy="18288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024128" y="38404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Facts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" y="4517136"/>
            <a:ext cx="3017520" cy="566928"/>
          </a:xfrm>
          <a:prstGeom prst="roundRect">
            <a:avLst>
              <a:gd fmla="val 9677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13232" y="4709160"/>
            <a:ext cx="182880" cy="182880"/>
          </a:xfrm>
          <a:prstGeom prst="ellipse">
            <a:avLst/>
          </a:prstGeom>
          <a:solidFill>
            <a:srgbClr val="6D2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024128" y="45171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Marts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" y="5257800"/>
            <a:ext cx="3017520" cy="1078992"/>
          </a:xfrm>
          <a:prstGeom prst="roundRect">
            <a:avLst>
              <a:gd fmla="val 5932" name="adj"/>
            </a:avLst>
          </a:prstGeom>
          <a:solidFill>
            <a:srgbClr val="F0F9F3"/>
          </a:solidFill>
          <a:ln cap="flat" cmpd="sng" w="12700">
            <a:solidFill>
              <a:srgbClr val="CFE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13232" y="535838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Grão analítico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13232" y="5605272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1 linha por distribuidora por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977640" y="14630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Tabelas principais do modelo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977640" y="1810512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114800" y="1938528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114800" y="19385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114800" y="2286000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dim_tempo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519672" y="1810512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656832" y="1938528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656832" y="19385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656832" y="2286000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dim_distribuidora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061704" y="1810512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9198864" y="1938528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9198864" y="193852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9198864" y="2286000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fct_tmae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977640" y="3035808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114800" y="3163824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114800" y="316382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114800" y="3511296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mart_performance_tmae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519672" y="3035808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656832" y="3163824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656832" y="316382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656832" y="3511296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mart_coelba_tmae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061704" y="3035808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9198864" y="3163824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9198864" y="316382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9198864" y="3511296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mart_ranking_distribuidoras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977640" y="4261104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114800" y="4389120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114800" y="438912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114800" y="4736592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mart_componentes_tmae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519672" y="4261104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656832" y="4389120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656832" y="438912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656832" y="4736592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mart_ml_features_tmae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061704" y="4261104"/>
            <a:ext cx="2395728" cy="1078992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9198864" y="4389120"/>
            <a:ext cx="960120" cy="274320"/>
          </a:xfrm>
          <a:prstGeom prst="roundRect">
            <a:avLst>
              <a:gd fmla="val 50000" name="adj"/>
            </a:avLst>
          </a:prstGeom>
          <a:solidFill>
            <a:srgbClr val="6D2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9198864" y="438912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9198864" y="4736592"/>
            <a:ext cx="212140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26323A"/>
                </a:solidFill>
                <a:latin typeface="Courier New"/>
                <a:ea typeface="Courier New"/>
                <a:cs typeface="Courier New"/>
                <a:sym typeface="Courier New"/>
              </a:rPr>
              <a:t>ml_tmae_resultados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REGRAS DE NEGÓCIO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Transformações e lógica analítica aplicada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1508760"/>
            <a:ext cx="3657600" cy="2148840"/>
          </a:xfrm>
          <a:prstGeom prst="roundRect">
            <a:avLst>
              <a:gd fmla="val 3404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777240" y="1737360"/>
            <a:ext cx="438912" cy="438912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995" y="1836115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1325880" y="1783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Padronização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77240" y="2286000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Padronização de colunas e tipos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Normalização de distribuidoras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Criação da flag_neoenergia_coelba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48640" y="3794760"/>
            <a:ext cx="3657600" cy="2148840"/>
          </a:xfrm>
          <a:prstGeom prst="roundRect">
            <a:avLst>
              <a:gd fmla="val 3404" name="adj"/>
            </a:avLst>
          </a:prstGeom>
          <a:solidFill>
            <a:srgbClr val="FDF1E7"/>
          </a:solidFill>
          <a:ln cap="flat" cmpd="sng" w="12700">
            <a:solidFill>
              <a:srgbClr val="F6D9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77240" y="4023360"/>
            <a:ext cx="438912" cy="438912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" y="41330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1325880" y="4069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Qualidade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77240" y="4572000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Nulos tratados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Registros inválidos sinalizados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TMAE recalculado: TMP + TMD + TME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526280" y="1481328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Métricas calculadas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526280" y="1810512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617720" y="1810512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media_tmae_brasil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848856" y="1810512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940296" y="1810512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diferenca_vs_brasil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171432" y="1810512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9262872" y="1810512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ranking_nacional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26280" y="2505456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617720" y="250545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ranking_regional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848856" y="2505456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940296" y="250545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ranking_grupo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9171432" y="2505456"/>
            <a:ext cx="2194560" cy="566928"/>
          </a:xfrm>
          <a:prstGeom prst="roundRect">
            <a:avLst>
              <a:gd fmla="val 9677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9262872" y="250545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classificacao_performance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526280" y="3127248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Decomposição do TMAE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26280" y="3456432"/>
            <a:ext cx="1371600" cy="502920"/>
          </a:xfrm>
          <a:prstGeom prst="roundRect">
            <a:avLst>
              <a:gd fmla="val 49091" name="adj"/>
            </a:avLst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526280" y="345643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897880" y="3456432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217920" y="3456432"/>
            <a:ext cx="1371600" cy="502920"/>
          </a:xfrm>
          <a:prstGeom prst="roundRect">
            <a:avLst>
              <a:gd fmla="val 49091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217920" y="345643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589520" y="3456432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909560" y="3456432"/>
            <a:ext cx="1371600" cy="502920"/>
          </a:xfrm>
          <a:prstGeom prst="roundRect">
            <a:avLst>
              <a:gd fmla="val 49091" name="adj"/>
            </a:avLst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7909560" y="345643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26280" y="4160520"/>
            <a:ext cx="6949440" cy="1783080"/>
          </a:xfrm>
          <a:prstGeom prst="roundRect">
            <a:avLst>
              <a:gd fmla="val 4103" name="adj"/>
            </a:avLst>
          </a:prstGeom>
          <a:solidFill>
            <a:srgbClr val="F0F9F3"/>
          </a:solidFill>
          <a:ln cap="flat" cmpd="sng" w="12700">
            <a:solidFill>
              <a:srgbClr val="CFE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754880" y="431596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Regras adotadas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54880" y="4645152"/>
            <a:ext cx="6492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Ranking crescente por TMAE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2632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Diferença negativa vs Brasil = melhor desempenho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Clr>
                <a:srgbClr val="26323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Diferença positiva vs Brasil = pior desempenho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E8B0"/>
                </a:solidFill>
                <a:latin typeface="Calibri"/>
                <a:ea typeface="Calibri"/>
                <a:cs typeface="Calibri"/>
                <a:sym typeface="Calibri"/>
              </a:rPr>
              <a:t>QUALIDADE &amp; GOVERNANÇA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Confiabilidade da solução com dbt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48640" y="1691640"/>
            <a:ext cx="4846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dbt como camada de padronização e governança, garantindo rastreabilidade ponta a ponta do dado bruto até o mart final.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F3638"/>
          </a:solidFill>
          <a:ln cap="flat" cmpd="sng" w="12700">
            <a:solidFill>
              <a:srgbClr val="356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" y="280263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9"/>
          <p:cNvSpPr/>
          <p:nvPr/>
        </p:nvSpPr>
        <p:spPr>
          <a:xfrm>
            <a:off x="1097280" y="267004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097280" y="294436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Garante completude dos campos críticos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548640" y="3410712"/>
            <a:ext cx="420624" cy="420624"/>
          </a:xfrm>
          <a:prstGeom prst="ellipse">
            <a:avLst/>
          </a:prstGeom>
          <a:solidFill>
            <a:srgbClr val="1F3638"/>
          </a:solidFill>
          <a:ln cap="flat" cmpd="sng" w="12700">
            <a:solidFill>
              <a:srgbClr val="356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" y="3515868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9"/>
          <p:cNvSpPr/>
          <p:nvPr/>
        </p:nvSpPr>
        <p:spPr>
          <a:xfrm>
            <a:off x="1097280" y="33832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097280" y="36576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Evita duplicidade nas chaves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48640" y="4123944"/>
            <a:ext cx="420624" cy="420624"/>
          </a:xfrm>
          <a:prstGeom prst="ellipse">
            <a:avLst/>
          </a:prstGeom>
          <a:solidFill>
            <a:srgbClr val="1F3638"/>
          </a:solidFill>
          <a:ln cap="flat" cmpd="sng" w="12700">
            <a:solidFill>
              <a:srgbClr val="356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" y="422910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1097280" y="409651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Relacionamento fato-dimensão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1097280" y="437083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Valida integridade referencial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48640" y="4837176"/>
            <a:ext cx="420624" cy="420624"/>
          </a:xfrm>
          <a:prstGeom prst="ellipse">
            <a:avLst/>
          </a:prstGeom>
          <a:solidFill>
            <a:srgbClr val="1F3638"/>
          </a:solidFill>
          <a:ln cap="flat" cmpd="sng" w="12700">
            <a:solidFill>
              <a:srgbClr val="356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" y="494233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1097280" y="48097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Regras críticas de negócio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097280" y="508406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Validação das regras de cálculo do TMAE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760720" y="1691640"/>
            <a:ext cx="5852160" cy="2331720"/>
          </a:xfrm>
          <a:prstGeom prst="roundRect">
            <a:avLst>
              <a:gd fmla="val 3529" name="adj"/>
            </a:avLst>
          </a:prstGeom>
          <a:solidFill>
            <a:srgbClr val="0F2A2C"/>
          </a:solidFill>
          <a:ln cap="flat" cmpd="sng" w="12700">
            <a:solidFill>
              <a:srgbClr val="1F3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035040" y="18745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D8B8"/>
                </a:solidFill>
                <a:latin typeface="Calibri"/>
                <a:ea typeface="Calibri"/>
                <a:cs typeface="Calibri"/>
                <a:sym typeface="Calibri"/>
              </a:rPr>
              <a:t>Evidências de execução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035040" y="2267712"/>
            <a:ext cx="5303520" cy="502920"/>
          </a:xfrm>
          <a:prstGeom prst="roundRect">
            <a:avLst>
              <a:gd fmla="val 10909" name="adj"/>
            </a:avLst>
          </a:prstGeom>
          <a:solidFill>
            <a:srgbClr val="183638"/>
          </a:solidFill>
          <a:ln cap="flat" cmpd="sng" w="12700">
            <a:solidFill>
              <a:srgbClr val="2A4F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6263640" y="2267712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7FE8B0"/>
                </a:solidFill>
                <a:latin typeface="Courier New"/>
                <a:ea typeface="Courier New"/>
                <a:cs typeface="Courier New"/>
                <a:sym typeface="Courier New"/>
              </a:rPr>
              <a:t>$ dbt debug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035040" y="2889504"/>
            <a:ext cx="5303520" cy="502920"/>
          </a:xfrm>
          <a:prstGeom prst="roundRect">
            <a:avLst>
              <a:gd fmla="val 10909" name="adj"/>
            </a:avLst>
          </a:prstGeom>
          <a:solidFill>
            <a:srgbClr val="183638"/>
          </a:solidFill>
          <a:ln cap="flat" cmpd="sng" w="12700">
            <a:solidFill>
              <a:srgbClr val="2A4F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6263640" y="288950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7FE8B0"/>
                </a:solidFill>
                <a:latin typeface="Courier New"/>
                <a:ea typeface="Courier New"/>
                <a:cs typeface="Courier New"/>
                <a:sym typeface="Courier New"/>
              </a:rPr>
              <a:t>$ dbt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6035040" y="3511296"/>
            <a:ext cx="5303520" cy="502920"/>
          </a:xfrm>
          <a:prstGeom prst="roundRect">
            <a:avLst>
              <a:gd fmla="val 10909" name="adj"/>
            </a:avLst>
          </a:prstGeom>
          <a:solidFill>
            <a:srgbClr val="183638"/>
          </a:solidFill>
          <a:ln cap="flat" cmpd="sng" w="12700">
            <a:solidFill>
              <a:srgbClr val="2A4F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263640" y="3511296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7FE8B0"/>
                </a:solidFill>
                <a:latin typeface="Courier New"/>
                <a:ea typeface="Courier New"/>
                <a:cs typeface="Courier New"/>
                <a:sym typeface="Courier New"/>
              </a:rPr>
              <a:t>$ dbt test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760720" y="4206240"/>
            <a:ext cx="5852160" cy="1920240"/>
          </a:xfrm>
          <a:prstGeom prst="roundRect">
            <a:avLst>
              <a:gd fmla="val 4286" name="adj"/>
            </a:avLst>
          </a:prstGeom>
          <a:solidFill>
            <a:srgbClr val="1F3638"/>
          </a:solidFill>
          <a:ln cap="flat" cmpd="sng" w="12700">
            <a:solidFill>
              <a:srgbClr val="356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6035040" y="43708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035040" y="470916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Modelo com rastreabilidade completa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Lógica central de negócio documentada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Camada final pronta para consumo analítico confiável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D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DA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FE8D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DA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DASHBOARD POWER 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Aplicação prática do modelo analítico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Páginas planejadas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48640" y="1810512"/>
            <a:ext cx="4160520" cy="548640"/>
          </a:xfrm>
          <a:prstGeom prst="roundRect">
            <a:avLst>
              <a:gd fmla="val 10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76656" y="1901952"/>
            <a:ext cx="365760" cy="36576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9842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1170432" y="18105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48640" y="2468880"/>
            <a:ext cx="4160520" cy="548640"/>
          </a:xfrm>
          <a:prstGeom prst="roundRect">
            <a:avLst>
              <a:gd fmla="val 10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76656" y="2560320"/>
            <a:ext cx="365760" cy="36576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2" y="2642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/>
          <p:nvPr/>
        </p:nvSpPr>
        <p:spPr>
          <a:xfrm>
            <a:off x="1170432" y="24688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Ranking Nacional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48640" y="3127248"/>
            <a:ext cx="4160520" cy="548640"/>
          </a:xfrm>
          <a:prstGeom prst="roundRect">
            <a:avLst>
              <a:gd fmla="val 10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676656" y="3218688"/>
            <a:ext cx="365760" cy="36576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952" y="33009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/>
          <p:nvPr/>
        </p:nvSpPr>
        <p:spPr>
          <a:xfrm>
            <a:off x="1170432" y="312724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Evolução Temporal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48640" y="3785616"/>
            <a:ext cx="4160520" cy="548640"/>
          </a:xfrm>
          <a:prstGeom prst="roundRect">
            <a:avLst>
              <a:gd fmla="val 10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76656" y="3877056"/>
            <a:ext cx="365760" cy="36576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" y="39593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1170432" y="3785616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Componentes do TMAE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4443984"/>
            <a:ext cx="4160520" cy="548640"/>
          </a:xfrm>
          <a:prstGeom prst="roundRect">
            <a:avLst>
              <a:gd fmla="val 100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76656" y="4535424"/>
            <a:ext cx="365760" cy="36576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952" y="46177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/>
          <p:nvPr/>
        </p:nvSpPr>
        <p:spPr>
          <a:xfrm>
            <a:off x="1170432" y="4443984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Inteligência Analítica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029200" y="146304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Fontes do 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029200" y="1810512"/>
            <a:ext cx="2382012" cy="365760"/>
          </a:xfrm>
          <a:prstGeom prst="roundRect">
            <a:avLst>
              <a:gd fmla="val 50000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029200" y="1810512"/>
            <a:ext cx="23820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mart_performance_tmae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548372" y="1810512"/>
            <a:ext cx="1901952" cy="365760"/>
          </a:xfrm>
          <a:prstGeom prst="roundRect">
            <a:avLst>
              <a:gd fmla="val 50000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7548372" y="1810512"/>
            <a:ext cx="1901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mart_coelba_tmae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029200" y="2267712"/>
            <a:ext cx="2958084" cy="365760"/>
          </a:xfrm>
          <a:prstGeom prst="roundRect">
            <a:avLst>
              <a:gd fmla="val 50000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5029200" y="2267712"/>
            <a:ext cx="29580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mart_ranking_distribuidoras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124444" y="2267712"/>
            <a:ext cx="2382012" cy="365760"/>
          </a:xfrm>
          <a:prstGeom prst="roundRect">
            <a:avLst>
              <a:gd fmla="val 50000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8124444" y="2267712"/>
            <a:ext cx="23820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mart_componentes_tmae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029200" y="2724912"/>
            <a:ext cx="2093976" cy="365760"/>
          </a:xfrm>
          <a:prstGeom prst="roundRect">
            <a:avLst>
              <a:gd fmla="val 50000" name="adj"/>
            </a:avLst>
          </a:prstGeom>
          <a:solidFill>
            <a:srgbClr val="E7F1FA"/>
          </a:solidFill>
          <a:ln cap="flat" cmpd="sng" w="12700">
            <a:solidFill>
              <a:srgbClr val="BFD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5029200" y="2724912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5CA9"/>
                </a:solidFill>
                <a:latin typeface="Courier New"/>
                <a:ea typeface="Courier New"/>
                <a:cs typeface="Courier New"/>
                <a:sym typeface="Courier New"/>
              </a:rPr>
              <a:t>ml_tmae_resultados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029200" y="3319272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Medidas DAX (exemplos)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029200" y="3666744"/>
            <a:ext cx="31546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166360" y="375818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mbria"/>
              <a:buNone/>
            </a:pPr>
            <a:r>
              <a:rPr b="1" i="1" lang="en-US" sz="1300" u="none" cap="none" strike="noStrike">
                <a:solidFill>
                  <a:srgbClr val="F47920"/>
                </a:solidFill>
                <a:latin typeface="Cambria"/>
                <a:ea typeface="Cambria"/>
                <a:cs typeface="Cambria"/>
                <a:sym typeface="Cambria"/>
              </a:rPr>
              <a:t>ƒx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166360" y="403250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TMAE Médio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8330184" y="3666744"/>
            <a:ext cx="31546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8467344" y="375818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mbria"/>
              <a:buNone/>
            </a:pPr>
            <a:r>
              <a:rPr b="1" i="1" lang="en-US" sz="1300" u="none" cap="none" strike="noStrike">
                <a:solidFill>
                  <a:srgbClr val="F47920"/>
                </a:solidFill>
                <a:latin typeface="Cambria"/>
                <a:ea typeface="Cambria"/>
                <a:cs typeface="Cambria"/>
                <a:sym typeface="Cambria"/>
              </a:rPr>
              <a:t>ƒx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467344" y="403250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Diferença Coelba vs Brasil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5029200" y="4526280"/>
            <a:ext cx="31546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166360" y="46177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mbria"/>
              <a:buNone/>
            </a:pPr>
            <a:r>
              <a:rPr b="1" i="1" lang="en-US" sz="1300" u="none" cap="none" strike="noStrike">
                <a:solidFill>
                  <a:srgbClr val="F47920"/>
                </a:solidFill>
                <a:latin typeface="Cambria"/>
                <a:ea typeface="Cambria"/>
                <a:cs typeface="Cambria"/>
                <a:sym typeface="Cambria"/>
              </a:rPr>
              <a:t>ƒx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166360" y="489204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Ranking Coelba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8330184" y="4526280"/>
            <a:ext cx="31546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8467344" y="46177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mbria"/>
              <a:buNone/>
            </a:pPr>
            <a:r>
              <a:rPr b="1" i="1" lang="en-US" sz="1300" u="none" cap="none" strike="noStrike">
                <a:solidFill>
                  <a:srgbClr val="F47920"/>
                </a:solidFill>
                <a:latin typeface="Cambria"/>
                <a:ea typeface="Cambria"/>
                <a:cs typeface="Cambria"/>
                <a:sym typeface="Cambria"/>
              </a:rPr>
              <a:t>ƒx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467344" y="489204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Status de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48640" y="5559552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F0F9F3"/>
          </a:solidFill>
          <a:ln cap="flat" cmpd="sng" w="12700">
            <a:solidFill>
              <a:srgbClr val="CFEB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749808" y="5696712"/>
            <a:ext cx="457200" cy="4572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678" y="579958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0"/>
          <p:cNvSpPr/>
          <p:nvPr/>
        </p:nvSpPr>
        <p:spPr>
          <a:xfrm>
            <a:off x="1371600" y="5559552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O dashboard consome diretamente a camada final pronta (marts), sem recriar lógica de negócio no Power BI.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ANÁLISES AVANÇADAS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6323A"/>
                </a:solidFill>
                <a:latin typeface="Cambria"/>
                <a:ea typeface="Cambria"/>
                <a:cs typeface="Cambria"/>
                <a:sym typeface="Cambria"/>
              </a:rPr>
              <a:t>Machine Learning aplicado ao negócio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Camada de ML criada para complementar a visão executiva, antecipando riscos e padrões que a análise descritiva não revela isoladamente.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48640" y="2057400"/>
            <a:ext cx="3566160" cy="2286000"/>
          </a:xfrm>
          <a:prstGeom prst="roundRect">
            <a:avLst>
              <a:gd fmla="val 36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397" y="23991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1417320" y="2313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417320" y="25877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Detecção de anomalias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777240" y="30175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Identifica distribuidoras com comportamento fora do padrão esperado.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297680" y="2057400"/>
            <a:ext cx="3566160" cy="2286000"/>
          </a:xfrm>
          <a:prstGeom prst="roundRect">
            <a:avLst>
              <a:gd fmla="val 36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437" y="23991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5166360" y="2313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KMeans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5166360" y="25877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A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Clusterização de distribuidoras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526280" y="30175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Agrupa distribuidoras por perfil de performance similar.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046720" y="2057400"/>
            <a:ext cx="3566160" cy="2286000"/>
          </a:xfrm>
          <a:prstGeom prst="roundRect">
            <a:avLst>
              <a:gd fmla="val 3600" name="adj"/>
            </a:avLst>
          </a:prstGeom>
          <a:solidFill>
            <a:srgbClr val="F6F8F8"/>
          </a:solidFill>
          <a:ln cap="flat" cmpd="sng" w="12700">
            <a:solidFill>
              <a:srgbClr val="E3E8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477" y="23991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1"/>
          <p:cNvSpPr/>
          <p:nvPr/>
        </p:nvSpPr>
        <p:spPr>
          <a:xfrm>
            <a:off x="8915400" y="23134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Regressão Linear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8915400" y="2587752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A5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2EAA5E"/>
                </a:solidFill>
                <a:latin typeface="Calibri"/>
                <a:ea typeface="Calibri"/>
                <a:cs typeface="Calibri"/>
                <a:sym typeface="Calibri"/>
              </a:rPr>
              <a:t>Tendência prevista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8275320" y="30175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Projeta a trajetória futura do indicador TMAE.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2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23A"/>
                </a:solidFill>
                <a:latin typeface="Calibri"/>
                <a:ea typeface="Calibri"/>
                <a:cs typeface="Calibri"/>
                <a:sym typeface="Calibri"/>
              </a:rPr>
              <a:t>Saídas geradas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48640" y="4892040"/>
            <a:ext cx="2011680" cy="420624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548640" y="4892040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 de anomalia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2706624" y="4892040"/>
            <a:ext cx="2468880" cy="420624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2706624" y="4892040"/>
            <a:ext cx="2468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de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5321808" y="4892040"/>
            <a:ext cx="2103120" cy="420624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5321808" y="489204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Tendência prevista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7571232" y="4892040"/>
            <a:ext cx="2560320" cy="420624"/>
          </a:xfrm>
          <a:prstGeom prst="roundRect">
            <a:avLst>
              <a:gd fmla="val 50000" name="adj"/>
            </a:avLst>
          </a:prstGeom>
          <a:solidFill>
            <a:srgbClr val="005C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7571232" y="4892040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Recomendação de negócio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0F2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E8B0"/>
                </a:solidFill>
                <a:latin typeface="Calibri"/>
                <a:ea typeface="Calibri"/>
                <a:cs typeface="Calibri"/>
                <a:sym typeface="Calibri"/>
              </a:rPr>
              <a:t>Valor para o negócio:  </a:t>
            </a:r>
            <a:r>
              <a:rPr b="0" i="0" lang="en-US" sz="13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identificar desvios, priorizar investigação operacional e antecipar piora de performance.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NeoView Analytics  |  Prova Técnica — Analista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2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E8B0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Insight final e recomendação executiva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E8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FE8B0"/>
                </a:solidFill>
                <a:latin typeface="Calibri"/>
                <a:ea typeface="Calibri"/>
                <a:cs typeface="Calibri"/>
                <a:sym typeface="Calibri"/>
              </a:rPr>
              <a:t>O que a análise mostrou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48640" y="1965960"/>
            <a:ext cx="329184" cy="329184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8" name="Google Shape;4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2031797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2"/>
          <p:cNvSpPr/>
          <p:nvPr/>
        </p:nvSpPr>
        <p:spPr>
          <a:xfrm>
            <a:off x="1024128" y="1911096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A Neoenergia Coelba foi posicionada em relação ao Brasil e ao ranking nacional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48640" y="2807208"/>
            <a:ext cx="329184" cy="329184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2873045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2"/>
          <p:cNvSpPr/>
          <p:nvPr/>
        </p:nvSpPr>
        <p:spPr>
          <a:xfrm>
            <a:off x="1024128" y="2752344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A análise temporal mostrou sua evolução ao longo dos períodos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3714293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2"/>
          <p:cNvSpPr/>
          <p:nvPr/>
        </p:nvSpPr>
        <p:spPr>
          <a:xfrm>
            <a:off x="1024128" y="3593592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A decomposição do TMAE permitiu identificar o principal componente de impacto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48640" y="4489704"/>
            <a:ext cx="329184" cy="329184"/>
          </a:xfrm>
          <a:prstGeom prst="ellipse">
            <a:avLst/>
          </a:prstGeom>
          <a:solidFill>
            <a:srgbClr val="1F3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4555541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2"/>
          <p:cNvSpPr/>
          <p:nvPr/>
        </p:nvSpPr>
        <p:spPr>
          <a:xfrm>
            <a:off x="1024128" y="443484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A camada analítica foi estruturada para suportar decisão com rastreabilidade e escala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943600" y="1600200"/>
            <a:ext cx="5669280" cy="4572000"/>
          </a:xfrm>
          <a:prstGeom prst="roundRect">
            <a:avLst>
              <a:gd fmla="val 2000" name="adj"/>
            </a:avLst>
          </a:prstGeom>
          <a:solidFill>
            <a:srgbClr val="0F2A2C"/>
          </a:solidFill>
          <a:ln cap="flat" cmpd="sng" w="12700">
            <a:solidFill>
              <a:srgbClr val="1F3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6797" y="198767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2"/>
          <p:cNvSpPr/>
          <p:nvPr/>
        </p:nvSpPr>
        <p:spPr>
          <a:xfrm>
            <a:off x="6903720" y="19202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Recomendação executiva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6263640" y="2697480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6263640" y="2697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812280" y="2651760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Priorizar o componente com maior impacto no TMAE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263640" y="3447288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6263640" y="3447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6812280" y="3401568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Acompanhar mensalmente a diferença vs Brasil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263640" y="4197096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6263640" y="41970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812280" y="4151376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Usar ranking e benchmark para comparação com pares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6263640" y="4946904"/>
            <a:ext cx="365760" cy="365760"/>
          </a:xfrm>
          <a:prstGeom prst="ellipse">
            <a:avLst/>
          </a:prstGeom>
          <a:solidFill>
            <a:srgbClr val="F479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6263640" y="49469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6812280" y="4901184"/>
            <a:ext cx="4663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FE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FE5"/>
                </a:solidFill>
                <a:latin typeface="Calibri"/>
                <a:ea typeface="Calibri"/>
                <a:cs typeface="Calibri"/>
                <a:sym typeface="Calibri"/>
              </a:rPr>
              <a:t>Monitorar anomalias e tendência prevista para ação preventiva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neoview_deck/assets/symbol.png" id="455" name="Google Shape;4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626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2"/>
          <p:cNvSpPr/>
          <p:nvPr/>
        </p:nvSpPr>
        <p:spPr>
          <a:xfrm>
            <a:off x="960120" y="6263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Gabriel Nunes Barbosa Nogueira  ·  NeoView Analytics  ·  Neoenergia Coelba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11002975" y="626364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8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8B4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